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15" r:id="rId1"/>
  </p:sldMasterIdLst>
  <p:notesMasterIdLst>
    <p:notesMasterId r:id="rId19"/>
  </p:notesMasterIdLst>
  <p:sldIdLst>
    <p:sldId id="263" r:id="rId2"/>
    <p:sldId id="305" r:id="rId3"/>
    <p:sldId id="317" r:id="rId4"/>
    <p:sldId id="257" r:id="rId5"/>
    <p:sldId id="259" r:id="rId6"/>
    <p:sldId id="296" r:id="rId7"/>
    <p:sldId id="315" r:id="rId8"/>
    <p:sldId id="318" r:id="rId9"/>
    <p:sldId id="319" r:id="rId10"/>
    <p:sldId id="320" r:id="rId11"/>
    <p:sldId id="321" r:id="rId12"/>
    <p:sldId id="322" r:id="rId13"/>
    <p:sldId id="323" r:id="rId14"/>
    <p:sldId id="324" r:id="rId15"/>
    <p:sldId id="325" r:id="rId16"/>
    <p:sldId id="316" r:id="rId17"/>
    <p:sldId id="31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CF6"/>
    <a:srgbClr val="FFF7F6"/>
    <a:srgbClr val="F6F8FF"/>
    <a:srgbClr val="F6F3FC"/>
    <a:srgbClr val="FDC259"/>
    <a:srgbClr val="0F9ED5"/>
    <a:srgbClr val="8AF0FE"/>
    <a:srgbClr val="03D1ED"/>
    <a:srgbClr val="FFFF99"/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99DF46-CE6D-4A35-9CA3-1A59DADBE0BC}" v="2" dt="2026-08-31T08:07:25.3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00" autoAdjust="0"/>
    <p:restoredTop sz="86427"/>
  </p:normalViewPr>
  <p:slideViewPr>
    <p:cSldViewPr snapToGrid="0">
      <p:cViewPr varScale="1">
        <p:scale>
          <a:sx n="54" d="100"/>
          <a:sy n="54" d="100"/>
        </p:scale>
        <p:origin x="764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6330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69CB7-4499-4D25-B4F0-F03CFFB3B565}" type="datetimeFigureOut">
              <a:rPr lang="en-IN" smtClean="0"/>
              <a:pPr/>
              <a:t>31-08-2026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24FD0D-C0EA-4ED3-96B1-9BC6515B0BE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802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24FD0D-C0EA-4ED3-96B1-9BC6515B0BE5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7718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07DB8-1AB4-A7AC-16BE-EAD2E7469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3AA321-A839-CED7-305B-630A2860D9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57F2A3-C064-BF96-FE16-9A6DEE511C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10DD2-3A66-ABC5-632B-331F846096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24FD0D-C0EA-4ED3-96B1-9BC6515B0BE5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6019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24FD0D-C0EA-4ED3-96B1-9BC6515B0BE5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7463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79565-3EAA-C5C5-AB0E-2327C36F3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1B4695-9A5A-7248-9AC6-475B59D79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4A1EC0-24DF-0180-26F1-053883F081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6CF083-68E5-6BAA-1267-D19FEDD5F7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24FD0D-C0EA-4ED3-96B1-9BC6515B0BE5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3031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24FD0D-C0EA-4ED3-96B1-9BC6515B0BE5}" type="slidenum">
              <a:rPr lang="en-IN" smtClean="0"/>
              <a:pPr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7732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5E419-3E6F-0C41-DA63-22A62E1EE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67B4A2-32B6-3674-A1B3-A8955BD45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A38EE5-0594-8270-D1B0-60FA5E75E1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A8E6F-283A-F5AB-641E-A82D12596D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24FD0D-C0EA-4ED3-96B1-9BC6515B0BE5}" type="slidenum">
              <a:rPr lang="en-IN" smtClean="0"/>
              <a:pPr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3748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AEC74-8BAD-9DA7-F268-A733F5B4C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FFDE9F-70EA-B8C9-7DE3-E02DEAB08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B6512-83C6-C2C9-A1CA-559CD4471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C99D7-DB9E-F842-988B-D964B3014DC6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BF4D3-B771-0204-C404-2CDDC8A62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2D852-6B44-3EFF-7D59-64AFA88EF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73AC-15BE-4C43-8D0D-B7F1E76241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189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5B7B0-2D54-DBE2-7137-A5B0B10E2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4A013-482D-EB38-9F4B-C53FCE895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D5EEA-D853-C56E-8943-37A96B886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C99D7-DB9E-F842-988B-D964B3014DC6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EEEA8-DA3A-1327-9789-935BF9B3F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0AE58-DBB7-A412-1579-2B04B3D4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73AC-15BE-4C43-8D0D-B7F1E76241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047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1C771-50F8-18E6-88E1-C00CE4D3C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3B94C-2BBC-9F8F-3BC7-B61804443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568E3-22A2-8A00-5BBD-5B2028BC3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C99D7-DB9E-F842-988B-D964B3014DC6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9E059-7802-F0FF-8E8E-B87DAC03B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082AC-2120-9D5A-BFCB-9FE3D7F31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73AC-15BE-4C43-8D0D-B7F1E76241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77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D28BB-C82C-E7C1-521E-F8104CBA2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78727-1D2E-C463-EB3B-EC815978A6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16A6CD-92A8-552F-ADF4-AA043D827C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D45480-B618-963D-0798-5AC101EA9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C99D7-DB9E-F842-988B-D964B3014DC6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849ADD-AE45-54E8-D817-30299200F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BEDA67-0033-1D25-73C5-8BE4FD72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73AC-15BE-4C43-8D0D-B7F1E76241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494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B870E-4619-38B2-8B5F-E7E613CED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1CC42D-9A75-E001-6381-3B9552E28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36F4F1-7EE2-F720-464C-EF3F57D730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29366D-7462-B8B9-A2E8-FF24089B22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D1FF9A-F0B9-A67C-07D4-E49764DEA6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C32A2B-48DE-C367-3F64-87337A0B9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C99D7-DB9E-F842-988B-D964B3014DC6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710E90-8B0E-F8CA-9305-72B72759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2A2188-9E04-C839-B9FA-F53829A71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73AC-15BE-4C43-8D0D-B7F1E76241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464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0EC2D-C0E0-3B49-656E-B0745DD7D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666C74-7BFB-AB40-0AB4-AC57DF8A6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C99D7-DB9E-F842-988B-D964B3014DC6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58C7DE-392E-1AB4-8C58-C4AADB45B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3CD20B-6A06-1506-2007-B6B029044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73AC-15BE-4C43-8D0D-B7F1E76241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050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61B580-46C0-7C03-4BF7-DC7F840F6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C99D7-DB9E-F842-988B-D964B3014DC6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E82E92-AB90-B273-3093-7665F71B9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8B16A-4893-65B9-EDBC-D880BA9EF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73AC-15BE-4C43-8D0D-B7F1E76241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005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FC6E9-0408-F76B-3511-4CFBFF0C3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096D7-03CA-D2FA-0FCD-2EDAA6598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354D39-6993-F0AC-0A41-649CFA4615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BA8181-E1CE-7757-FA1B-FEFA5ABCB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C99D7-DB9E-F842-988B-D964B3014DC6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E2C91D-236C-F6B9-6A9B-35410430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050155-CD13-5C2E-3C4F-9A99DEA0D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73AC-15BE-4C43-8D0D-B7F1E76241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954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19790-035A-9F32-E472-F5C25C427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4EDEBF-2576-0618-94B0-3557659F89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5074F7-694A-33CF-0064-E99287D8F8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338136-537B-D919-05EF-155C72056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C99D7-DB9E-F842-988B-D964B3014DC6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B0876-196C-DBB5-1F01-FAA6FE5DA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A39539-D309-6614-851F-859D411AB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73AC-15BE-4C43-8D0D-B7F1E76241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826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03E28-97ED-0CC6-77CC-9EC6B6C4A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02E82-895C-E438-782E-7C3C894338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77E26-1B9F-D74F-F4D9-C4C55D46B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C99D7-DB9E-F842-988B-D964B3014DC6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98D11-CF79-6F5A-363F-A3A78F689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7D587-7D9F-6FE6-9A08-AF9482D38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73AC-15BE-4C43-8D0D-B7F1E76241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82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51E021-8D94-595D-8FA6-7931834891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57A2B5-D7DC-5C28-1BE9-01E78C9D19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E4582-6D7C-298A-CA2F-A440015A5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C99D7-DB9E-F842-988B-D964B3014DC6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56505-A604-463A-BA4D-94E5C8DDC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2FE3E-568B-2770-13A7-D13C390ED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73AC-15BE-4C43-8D0D-B7F1E76241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990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D05420-0486-8C0F-5149-0AFCE7672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4496CD-97C5-A815-14BE-E73FDD279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8446B-6950-004F-E1C0-F13A074351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3C99D7-DB9E-F842-988B-D964B3014DC6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3CF79-E020-49BD-7262-19BD227047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B71BB-4CFB-E0DF-5E24-F5911214D0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0B73AC-15BE-4C43-8D0D-B7F1E76241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712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6" r:id="rId1"/>
    <p:sldLayoutId id="2147483917" r:id="rId2"/>
    <p:sldLayoutId id="2147483918" r:id="rId3"/>
    <p:sldLayoutId id="2147483919" r:id="rId4"/>
    <p:sldLayoutId id="2147483920" r:id="rId5"/>
    <p:sldLayoutId id="2147483921" r:id="rId6"/>
    <p:sldLayoutId id="2147483922" r:id="rId7"/>
    <p:sldLayoutId id="2147483923" r:id="rId8"/>
    <p:sldLayoutId id="2147483924" r:id="rId9"/>
    <p:sldLayoutId id="2147483925" r:id="rId10"/>
    <p:sldLayoutId id="214748392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45/3539587.3539593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1109/TNNLS.2019.2912305" TargetMode="External"/><Relationship Id="rId5" Type="http://schemas.openxmlformats.org/officeDocument/2006/relationships/hyperlink" Target="https://doi.org/10.1109/MCC.2022.3160143" TargetMode="External"/><Relationship Id="rId4" Type="http://schemas.openxmlformats.org/officeDocument/2006/relationships/hyperlink" Target="https://doi.org/10.1109/TDSC.2019.2910231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00F9B8B-4E4D-B3BB-A359-8044F326D01F}"/>
              </a:ext>
            </a:extLst>
          </p:cNvPr>
          <p:cNvSpPr txBox="1"/>
          <p:nvPr/>
        </p:nvSpPr>
        <p:spPr>
          <a:xfrm>
            <a:off x="705352" y="4234304"/>
            <a:ext cx="43527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Priskilla Angel Rani J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409B82-6D9F-A4BD-6C19-6F1D677D86FD}"/>
              </a:ext>
            </a:extLst>
          </p:cNvPr>
          <p:cNvSpPr txBox="1"/>
          <p:nvPr/>
        </p:nvSpPr>
        <p:spPr>
          <a:xfrm>
            <a:off x="6226628" y="4465136"/>
            <a:ext cx="7585175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192425143 - K.KEERTHANA SAI</a:t>
            </a:r>
            <a:b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192411227 - NANDA DIMPLE BLOSSOM</a:t>
            </a: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192521338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-BHAGYA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SHREE S</a:t>
            </a: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192511056 - V VAISHNAVI</a:t>
            </a: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192521052 - B JANANI</a:t>
            </a:r>
            <a:b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9" name="Picture 8" descr="SSE-Computer Science and Engineering">
            <a:extLst>
              <a:ext uri="{FF2B5EF4-FFF2-40B4-BE49-F238E27FC236}">
                <a16:creationId xmlns:a16="http://schemas.microsoft.com/office/drawing/2014/main" id="{A5A7D87A-ABAF-BA51-0F30-58B9213D8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095" y="267174"/>
            <a:ext cx="11584439" cy="127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B9DA75-9DAF-9815-EE5E-CE64BF2A88F6}"/>
              </a:ext>
            </a:extLst>
          </p:cNvPr>
          <p:cNvSpPr txBox="1"/>
          <p:nvPr/>
        </p:nvSpPr>
        <p:spPr>
          <a:xfrm>
            <a:off x="3306316" y="2433811"/>
            <a:ext cx="5142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CSA0405-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 SYSTEMS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E43822-5B43-2B84-982B-F166079D8F5A}"/>
              </a:ext>
            </a:extLst>
          </p:cNvPr>
          <p:cNvSpPr txBox="1"/>
          <p:nvPr/>
        </p:nvSpPr>
        <p:spPr>
          <a:xfrm>
            <a:off x="4093693" y="1972146"/>
            <a:ext cx="604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C5D992-5E5F-652F-92E9-ECD02D4E89B2}"/>
              </a:ext>
            </a:extLst>
          </p:cNvPr>
          <p:cNvSpPr txBox="1"/>
          <p:nvPr/>
        </p:nvSpPr>
        <p:spPr>
          <a:xfrm>
            <a:off x="376411" y="2928999"/>
            <a:ext cx="1125780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Freeze Guard:An AI-Driven Intelligent Framework for </a:t>
            </a:r>
          </a:p>
          <a:p>
            <a:pPr algn="ctr"/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Real-Time Application Freeze Detection, Root Cause Analysis and Automatic Recovery System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DE14A-B4BB-D48C-C79F-C5DAA5D9C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3808" y="542580"/>
            <a:ext cx="8596668" cy="64097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755FE3-2EFD-F973-7B71-7304DBA062A5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D1B859-114E-26CB-B599-53450E340C01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6666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BDDDD7-9407-770D-764E-94238BE48F03}"/>
              </a:ext>
            </a:extLst>
          </p:cNvPr>
          <p:cNvSpPr txBox="1"/>
          <p:nvPr/>
        </p:nvSpPr>
        <p:spPr>
          <a:xfrm>
            <a:off x="241300" y="1885464"/>
            <a:ext cx="11395480" cy="442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Develops an AI-Based Application Freeze Recovery System to detect and recover frozen applications instead of immediately terminating them.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monitors CPU usage, memory usage, process state, and system resources using Operating System concepts.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Uses AI techniques to identify the root cause of application freezes, such as memory leaks, deadlocks, or high CPU utilization.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Performs intelligent recovery actions like suspending, resuming, changing process priority, or safely restarting the application to reduce data loss.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Maintains system logs and recovery history to improve future predictions and enhance overall system reliability and performance. </a:t>
            </a:r>
          </a:p>
        </p:txBody>
      </p:sp>
    </p:spTree>
    <p:extLst>
      <p:ext uri="{BB962C8B-B14F-4D97-AF65-F5344CB8AC3E}">
        <p14:creationId xmlns:p14="http://schemas.microsoft.com/office/powerpoint/2010/main" val="1808261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9F07F-9E9E-5C90-080F-0C8B93231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40513-26FC-7B92-2BA3-8A237A703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9998" y="542580"/>
            <a:ext cx="8596668" cy="64097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E2FD23-45E7-418B-5EFB-DE12441BC66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550539-5365-07C7-ECB5-CE4B87E6F813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6666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8D2F20-3813-5A71-887B-A7B56BEB291C}"/>
              </a:ext>
            </a:extLst>
          </p:cNvPr>
          <p:cNvSpPr txBox="1"/>
          <p:nvPr/>
        </p:nvSpPr>
        <p:spPr>
          <a:xfrm>
            <a:off x="357352" y="1829444"/>
            <a:ext cx="11279428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Modern applications often freeze due to high CPU usage, memory leaks, deadlocks, resource contention, or disk I/O delays, affecting system performance. </a:t>
            </a:r>
          </a:p>
          <a:p>
            <a:pPr algn="just">
              <a:lnSpc>
                <a:spcPct val="150000"/>
              </a:lnSpc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 generally force users to end the application, which can lead to the loss of unsaved data and interruption of ongoing tasks. </a:t>
            </a:r>
          </a:p>
          <a:p>
            <a:pPr algn="just">
              <a:lnSpc>
                <a:spcPct val="150000"/>
              </a:lnSpc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AI-Based Application Freeze Recovery System continuously monitors application behavior using Operating System resource management techniques. </a:t>
            </a:r>
          </a:p>
          <a:p>
            <a:pPr algn="just">
              <a:lnSpc>
                <a:spcPct val="150000"/>
              </a:lnSpc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By combining Operating System concepts with AI, the proposed system improves application reliability, minimizes downtime, and enhances the overall user experience.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4776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469" y="415934"/>
            <a:ext cx="9699715" cy="1224068"/>
          </a:xfrm>
        </p:spPr>
        <p:txBody>
          <a:bodyPr>
            <a:normAutofit/>
          </a:bodyPr>
          <a:lstStyle/>
          <a:p>
            <a:pPr algn="ctr"/>
            <a:r>
              <a:rPr lang="en-US" sz="3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sz="3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6A1AFF6-728E-5398-76AD-B1B083B496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2771" y="3798746"/>
            <a:ext cx="6596174" cy="1089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297118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A2F12E-00A7-408C-0778-2E7292B2EBD1}"/>
              </a:ext>
            </a:extLst>
          </p:cNvPr>
          <p:cNvSpPr txBox="1"/>
          <p:nvPr/>
        </p:nvSpPr>
        <p:spPr>
          <a:xfrm>
            <a:off x="463871" y="1829008"/>
            <a:ext cx="11448729" cy="461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Critical applications used in hospitals, banks, offices, and educational institutions often freeze due to high CPU usage, memory leaks, deadlocks, or disk I/O bottlenecks, interrupting important tasks. </a:t>
            </a:r>
          </a:p>
          <a:p>
            <a:pPr algn="just">
              <a:lnSpc>
                <a:spcPct val="150000"/>
              </a:lnSpc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Users usually force-close unresponsive applications, which can result in the loss of unsaved data, reduced productivity, and service interruptions. </a:t>
            </a:r>
          </a:p>
          <a:p>
            <a:pPr algn="just">
              <a:lnSpc>
                <a:spcPct val="150000"/>
              </a:lnSpc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Current operating systems can identify that an application is "Not Responding", but they cannot automatically determine the exact cause or recover the application intelligently. </a:t>
            </a:r>
          </a:p>
          <a:p>
            <a:pPr algn="just">
              <a:lnSpc>
                <a:spcPct val="150000"/>
              </a:lnSpc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An AI-Based Application Freeze Recovery System is needed to continuously monitor applications, identify the root cause of freezes, and perform safe recovery actions, reducing downtime and preventing data loss.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065" y="300391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</a:t>
            </a:r>
            <a:endParaRPr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358" y="1534510"/>
            <a:ext cx="8089789" cy="3585311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1E88BAC-A8F1-E70E-C2B5-FFF7030E4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E1FA44-57E2-70A5-1A2E-C2B67244553E}"/>
              </a:ext>
            </a:extLst>
          </p:cNvPr>
          <p:cNvSpPr txBox="1"/>
          <p:nvPr/>
        </p:nvSpPr>
        <p:spPr>
          <a:xfrm>
            <a:off x="665843" y="2707428"/>
            <a:ext cx="74166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C595EB-5EB4-4C89-2F37-BF995851D04C}"/>
              </a:ext>
            </a:extLst>
          </p:cNvPr>
          <p:cNvSpPr txBox="1"/>
          <p:nvPr/>
        </p:nvSpPr>
        <p:spPr>
          <a:xfrm>
            <a:off x="170273" y="1734719"/>
            <a:ext cx="11851453" cy="4727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To continuously monitor running applications and system resources (CPU, memory, disk I/O, and process state) to detect freeze conditions at an early stage.</a:t>
            </a:r>
          </a:p>
          <a:p>
            <a:pPr algn="just">
              <a:lnSpc>
                <a:spcPct val="150000"/>
              </a:lnSpc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the root cause of application freezes using AI by analyzing system and process behavior, such as memory leaks, deadlocks, and high CPU usage. </a:t>
            </a:r>
          </a:p>
          <a:p>
            <a:pPr algn="just">
              <a:lnSpc>
                <a:spcPct val="150000"/>
              </a:lnSpc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To perform intelligent recovery actions like suspending, resuming, adjusting process priority, or safely restarting applications to reduce downtime and prevent unnecessary termination. </a:t>
            </a:r>
          </a:p>
          <a:p>
            <a:pPr algn="just">
              <a:lnSpc>
                <a:spcPct val="150000"/>
              </a:lnSpc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To improve system reliability and user productivity by minimizing data loss, maintaining recovery logs, and enhancing the overall performance of application management.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4AF18-D2BF-89DD-4028-455BA85BB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5DDCB-D769-482A-9A87-DE50B9388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1" y="27776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VS PROPOSED SYSTEM</a:t>
            </a:r>
            <a:b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409B4B-AD05-E46B-5EE5-8171236BBFD7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3" y="191626"/>
            <a:ext cx="961696" cy="1067331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7F8696-4D7A-2BA0-6ECB-57FA5D34EB3D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4912" y="97329"/>
            <a:ext cx="1108544" cy="132556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CFC5A83-9CB8-07CD-0743-FC55DB9B2531}"/>
              </a:ext>
            </a:extLst>
          </p:cNvPr>
          <p:cNvSpPr/>
          <p:nvPr/>
        </p:nvSpPr>
        <p:spPr>
          <a:xfrm>
            <a:off x="181119" y="1491752"/>
            <a:ext cx="5629874" cy="5044558"/>
          </a:xfrm>
          <a:prstGeom prst="roundRect">
            <a:avLst/>
          </a:prstGeom>
          <a:solidFill>
            <a:srgbClr val="FFF7F6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Detects only "Not Responding".</a:t>
            </a:r>
          </a:p>
          <a:p>
            <a:pPr algn="just"/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Requires manual task termination.</a:t>
            </a:r>
          </a:p>
          <a:p>
            <a:pPr algn="just"/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No root cause analysis. Causes possible data loss. </a:t>
            </a:r>
          </a:p>
          <a:p>
            <a:pPr algn="just"/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No automatic recovery. </a:t>
            </a:r>
          </a:p>
          <a:p>
            <a:pPr algn="just"/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Limited system monitoring.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923479F-1005-4F7B-CFDB-8F0F0EBF59F6}"/>
              </a:ext>
            </a:extLst>
          </p:cNvPr>
          <p:cNvSpPr/>
          <p:nvPr/>
        </p:nvSpPr>
        <p:spPr>
          <a:xfrm>
            <a:off x="6343582" y="1617410"/>
            <a:ext cx="5629874" cy="4918900"/>
          </a:xfrm>
          <a:prstGeom prst="roundRect">
            <a:avLst/>
          </a:prstGeom>
          <a:solidFill>
            <a:srgbClr val="F7FCF6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Wingdings" pitchFamily="2" charset="2"/>
              <a:buChar char="Ø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Monitors applications continuously.</a:t>
            </a:r>
          </a:p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AI identifies freeze causes.</a:t>
            </a:r>
          </a:p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Performs smart recovery actions. Reduces data loss.</a:t>
            </a:r>
          </a:p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Maintains recovery logs. </a:t>
            </a:r>
          </a:p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Improves system reliability.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9B21818-5B65-585A-83FC-B2933D3D6EC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80" r="3627" b="3907"/>
          <a:stretch>
            <a:fillRect/>
          </a:stretch>
        </p:blipFill>
        <p:spPr>
          <a:xfrm>
            <a:off x="218544" y="1345093"/>
            <a:ext cx="5555023" cy="70047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7E557F1-AAD0-6F24-EC8A-AC16F390BBB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93" t="9429" r="2154" b="16493"/>
          <a:stretch>
            <a:fillRect/>
          </a:stretch>
        </p:blipFill>
        <p:spPr>
          <a:xfrm>
            <a:off x="6344823" y="1365402"/>
            <a:ext cx="5400302" cy="58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095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AB1508-63EF-C88A-DA33-F778B0B05EE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1018" y="36636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6A2540-B587-BADC-289B-F5351E34AED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3715" y="36636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684AE84-3DAE-62F4-492A-993B8612379C}"/>
              </a:ext>
            </a:extLst>
          </p:cNvPr>
          <p:cNvSpPr txBox="1"/>
          <p:nvPr/>
        </p:nvSpPr>
        <p:spPr>
          <a:xfrm>
            <a:off x="4203700" y="622309"/>
            <a:ext cx="594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64D523-818B-C41D-DEE7-D2D7648EEAC3}"/>
              </a:ext>
            </a:extLst>
          </p:cNvPr>
          <p:cNvSpPr txBox="1"/>
          <p:nvPr/>
        </p:nvSpPr>
        <p:spPr>
          <a:xfrm>
            <a:off x="1237035" y="2112973"/>
            <a:ext cx="100965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Module 1: Process &amp; Resource Monitoring</a:t>
            </a:r>
          </a:p>
          <a:p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Module 2: Freeze Cause Analysis using AI </a:t>
            </a:r>
          </a:p>
          <a:p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Module 3: Intelligent Recovery Engine </a:t>
            </a:r>
          </a:p>
          <a:p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Module 4: Memory &amp; Resource Optimization</a:t>
            </a:r>
          </a:p>
          <a:p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Module 5: Logging, Learning &amp; Prediction Dashboard</a:t>
            </a:r>
          </a:p>
        </p:txBody>
      </p:sp>
    </p:spTree>
    <p:extLst>
      <p:ext uri="{BB962C8B-B14F-4D97-AF65-F5344CB8AC3E}">
        <p14:creationId xmlns:p14="http://schemas.microsoft.com/office/powerpoint/2010/main" val="2528236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9375F"/>
                </a:solidFill>
                <a:latin typeface="Times New Roman"/>
              </a:rPr>
              <a:t>MODULE 1: PROCESS &amp; RESOURCE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5A5A5A"/>
                </a:solidFill>
                <a:latin typeface="Times New Roman"/>
              </a:rPr>
              <a:t>Continuous observation of applications and system resources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103120" cy="914400"/>
          </a:xfrm>
          <a:prstGeom prst="roundRect">
            <a:avLst/>
          </a:prstGeom>
          <a:solidFill>
            <a:srgbClr val="EBF2FA"/>
          </a:solidFill>
          <a:ln w="15240"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91919"/>
                </a:solidFill>
                <a:latin typeface="Times New Roman"/>
              </a:rPr>
              <a:t>Running</a:t>
            </a:r>
            <a:br/>
            <a:r>
              <a:rPr>
                <a:solidFill>
                  <a:schemeClr val="tx1"/>
                </a:solidFill>
              </a:rPr>
              <a:t>Applications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4680" y="1417320"/>
            <a:ext cx="2103120" cy="914400"/>
          </a:xfrm>
          <a:prstGeom prst="roundRect">
            <a:avLst/>
          </a:prstGeom>
          <a:solidFill>
            <a:srgbClr val="EBF2FA"/>
          </a:solidFill>
          <a:ln w="15240"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91919"/>
                </a:solidFill>
                <a:latin typeface="Times New Roman"/>
              </a:rPr>
              <a:t>Process</a:t>
            </a:r>
            <a:br/>
            <a:r>
              <a:rPr>
                <a:solidFill>
                  <a:schemeClr val="tx1"/>
                </a:solidFill>
              </a:rPr>
              <a:t>Monitor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417320"/>
            <a:ext cx="2103120" cy="914400"/>
          </a:xfrm>
          <a:prstGeom prst="roundRect">
            <a:avLst/>
          </a:prstGeom>
          <a:solidFill>
            <a:srgbClr val="EBF2FA"/>
          </a:solidFill>
          <a:ln w="15240"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91919"/>
                </a:solidFill>
                <a:latin typeface="Times New Roman"/>
              </a:rPr>
              <a:t>Resource</a:t>
            </a:r>
            <a:br/>
            <a:r>
              <a:rPr>
                <a:solidFill>
                  <a:schemeClr val="tx1"/>
                </a:solidFill>
              </a:rPr>
              <a:t>Metrics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417320"/>
            <a:ext cx="2103120" cy="914400"/>
          </a:xfrm>
          <a:prstGeom prst="roundRect">
            <a:avLst/>
          </a:prstGeom>
          <a:solidFill>
            <a:srgbClr val="EBF2FA"/>
          </a:solidFill>
          <a:ln w="15240">
            <a:solidFill>
              <a:srgbClr val="B9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91919"/>
                </a:solidFill>
                <a:latin typeface="Times New Roman"/>
              </a:rPr>
              <a:t>Freeze</a:t>
            </a:r>
            <a:br/>
            <a:r>
              <a:rPr>
                <a:solidFill>
                  <a:schemeClr val="tx1"/>
                </a:solidFill>
              </a:rPr>
              <a:t>Detection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1874519"/>
            <a:ext cx="411480" cy="0"/>
          </a:xfrm>
          <a:prstGeom prst="line">
            <a:avLst/>
          </a:prstGeom>
          <a:ln w="25400">
            <a:solidFill>
              <a:srgbClr val="2D5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257800" y="1874519"/>
            <a:ext cx="411480" cy="0"/>
          </a:xfrm>
          <a:prstGeom prst="line">
            <a:avLst/>
          </a:prstGeom>
          <a:ln w="25400">
            <a:solidFill>
              <a:srgbClr val="2D5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0" y="1874519"/>
            <a:ext cx="411479" cy="0"/>
          </a:xfrm>
          <a:prstGeom prst="line">
            <a:avLst/>
          </a:prstGeom>
          <a:ln w="25400">
            <a:solidFill>
              <a:srgbClr val="2D5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8680" y="2743200"/>
            <a:ext cx="5486400" cy="2010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800">
                <a:solidFill>
                  <a:srgbClr val="191919"/>
                </a:solidFill>
                <a:latin typeface="Times New Roman"/>
              </a:rPr>
              <a:t>Monitors CPU usage, memory usage, disk I/O and process state.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800">
                <a:solidFill>
                  <a:srgbClr val="191919"/>
                </a:solidFill>
                <a:latin typeface="Times New Roman"/>
              </a:rPr>
              <a:t>Tracks application behaviour continuously in real time.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800">
                <a:solidFill>
                  <a:srgbClr val="191919"/>
                </a:solidFill>
                <a:latin typeface="Times New Roman"/>
              </a:rPr>
              <a:t>Detects abnormal resource usage and unresponsive states early.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2788920"/>
            <a:ext cx="356616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91919"/>
                </a:solidFill>
                <a:latin typeface="Times New Roman"/>
              </a:rPr>
              <a:t>CPU  ████████░░  80%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3520440"/>
            <a:ext cx="356616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91919"/>
                </a:solidFill>
                <a:latin typeface="Times New Roman"/>
              </a:rPr>
              <a:t>Memory  ██████░░░░  60%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4251960"/>
            <a:ext cx="356616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91919"/>
                </a:solidFill>
                <a:latin typeface="Times New Roman"/>
              </a:rPr>
              <a:t>Process  ● RUNNING / NOT RESPONDING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Times New Roman"/>
              </a:rPr>
              <a:t>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00435" y="320040"/>
            <a:ext cx="916064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latin typeface="Times New Roman"/>
              </a:rPr>
              <a:t>MODULE 2: FREEZE CAUSE ANALYSIS USING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16545" y="868680"/>
            <a:ext cx="432842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latin typeface="Times New Roman"/>
              </a:rPr>
              <a:t>Identifying why an application becomes unresponsive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2011680" cy="822960"/>
          </a:xfrm>
          <a:prstGeom prst="roundRect">
            <a:avLst/>
          </a:prstGeom>
          <a:solidFill>
            <a:srgbClr val="EBF2FA"/>
          </a:solidFill>
          <a:ln w="15240">
            <a:solidFill>
              <a:srgbClr val="B9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chemeClr val="tx1"/>
                </a:solidFill>
                <a:latin typeface="Times New Roman"/>
              </a:rPr>
              <a:t>Freeze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Detected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63240" y="1325880"/>
            <a:ext cx="2011680" cy="822960"/>
          </a:xfrm>
          <a:prstGeom prst="roundRect">
            <a:avLst/>
          </a:prstGeom>
          <a:solidFill>
            <a:srgbClr val="EBF2FA"/>
          </a:solidFill>
          <a:ln w="15240"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chemeClr val="tx1"/>
                </a:solidFill>
                <a:latin typeface="Times New Roman"/>
              </a:rPr>
              <a:t>Collect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325880"/>
            <a:ext cx="2011680" cy="822960"/>
          </a:xfrm>
          <a:prstGeom prst="roundRect">
            <a:avLst/>
          </a:prstGeom>
          <a:solidFill>
            <a:srgbClr val="EBF2FA"/>
          </a:solidFill>
          <a:ln w="15240"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chemeClr val="tx1"/>
                </a:solidFill>
                <a:latin typeface="Times New Roman"/>
              </a:rPr>
              <a:t>AI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325880"/>
            <a:ext cx="2011680" cy="822960"/>
          </a:xfrm>
          <a:prstGeom prst="roundRect">
            <a:avLst/>
          </a:prstGeom>
          <a:solidFill>
            <a:srgbClr val="EBF2FA"/>
          </a:solidFill>
          <a:ln w="15240">
            <a:solidFill>
              <a:srgbClr val="32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chemeClr val="tx1"/>
                </a:solidFill>
                <a:latin typeface="Times New Roman"/>
              </a:rPr>
              <a:t>Root Cause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51760" y="1737360"/>
            <a:ext cx="411480" cy="0"/>
          </a:xfrm>
          <a:prstGeom prst="line">
            <a:avLst/>
          </a:prstGeom>
          <a:ln w="25400">
            <a:solidFill>
              <a:srgbClr val="2D5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74920" y="1737360"/>
            <a:ext cx="411480" cy="0"/>
          </a:xfrm>
          <a:prstGeom prst="line">
            <a:avLst/>
          </a:prstGeom>
          <a:ln w="25400">
            <a:solidFill>
              <a:srgbClr val="2D5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498079" y="1737360"/>
            <a:ext cx="411481" cy="0"/>
          </a:xfrm>
          <a:prstGeom prst="line">
            <a:avLst/>
          </a:prstGeom>
          <a:ln w="25400">
            <a:solidFill>
              <a:srgbClr val="2D5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" y="2743200"/>
            <a:ext cx="214884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chemeClr val="tx1"/>
                </a:solidFill>
                <a:latin typeface="Times New Roman"/>
              </a:rPr>
              <a:t>High CPU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Utilization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743200"/>
            <a:ext cx="214884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chemeClr val="tx1"/>
                </a:solidFill>
                <a:latin typeface="Times New Roman"/>
              </a:rPr>
              <a:t>Memory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Leak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743200"/>
            <a:ext cx="214884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chemeClr val="tx1"/>
                </a:solidFill>
                <a:latin typeface="Times New Roman"/>
              </a:rPr>
              <a:t>Deadlock /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Resource Contention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2743200"/>
            <a:ext cx="214884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chemeClr val="tx1"/>
                </a:solidFill>
                <a:latin typeface="Times New Roman"/>
              </a:rPr>
              <a:t>Disk I/O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Bottleneck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9509760" cy="774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800">
                <a:latin typeface="Times New Roman"/>
              </a:rPr>
              <a:t>AI analyses process and resource behaviour to classify likely freeze causes.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800">
                <a:latin typeface="Times New Roman"/>
              </a:rPr>
              <a:t>The identified cause becomes the input for selecting an appropriate recovery 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9974" y="6446520"/>
            <a:ext cx="31290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latin typeface="Times New Roman"/>
              </a:rPr>
              <a:t>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3919" y="320040"/>
            <a:ext cx="899368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latin typeface="Times New Roman"/>
              </a:rPr>
              <a:t>MODULE 3: INTELLIGENT RECOVERY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71085" y="1063640"/>
            <a:ext cx="5910592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latin typeface="Times New Roman"/>
              </a:rPr>
              <a:t>Selecting a recovery action instead of immediately terminating the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86597" y="1780701"/>
            <a:ext cx="2743200" cy="777240"/>
          </a:xfrm>
          <a:prstGeom prst="roundRect">
            <a:avLst/>
          </a:prstGeom>
          <a:solidFill>
            <a:srgbClr val="EBF2FA"/>
          </a:solidFill>
          <a:ln w="15240">
            <a:solidFill>
              <a:srgbClr val="B9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chemeClr val="tx1"/>
                </a:solidFill>
                <a:latin typeface="Times New Roman"/>
              </a:rPr>
              <a:t>Freeze Cause + Process State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57597" y="3289461"/>
            <a:ext cx="182880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chemeClr val="tx1"/>
                </a:solidFill>
                <a:latin typeface="Times New Roman"/>
              </a:rPr>
              <a:t>Suspend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43597" y="3289461"/>
            <a:ext cx="182880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2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chemeClr val="tx1"/>
                </a:solidFill>
                <a:latin typeface="Times New Roman"/>
              </a:rPr>
              <a:t>Resume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597" y="3289461"/>
            <a:ext cx="182880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chemeClr val="tx1"/>
                </a:solidFill>
                <a:latin typeface="Times New Roman"/>
              </a:rPr>
              <a:t>Adjust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Priority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5596" y="3289461"/>
            <a:ext cx="182880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9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chemeClr val="tx1"/>
                </a:solidFill>
                <a:latin typeface="Times New Roman"/>
              </a:rPr>
              <a:t>Safe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Restart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171997" y="2557941"/>
            <a:ext cx="3886200" cy="731520"/>
          </a:xfrm>
          <a:prstGeom prst="line">
            <a:avLst/>
          </a:prstGeom>
          <a:ln w="25400">
            <a:solidFill>
              <a:srgbClr val="2D5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457997" y="2557941"/>
            <a:ext cx="1600200" cy="731520"/>
          </a:xfrm>
          <a:prstGeom prst="line">
            <a:avLst/>
          </a:prstGeom>
          <a:ln w="25400">
            <a:solidFill>
              <a:srgbClr val="2D5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58197" y="2557941"/>
            <a:ext cx="685800" cy="731520"/>
          </a:xfrm>
          <a:prstGeom prst="line">
            <a:avLst/>
          </a:prstGeom>
          <a:ln w="25400">
            <a:solidFill>
              <a:srgbClr val="2D5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58197" y="2557941"/>
            <a:ext cx="2971800" cy="731520"/>
          </a:xfrm>
          <a:prstGeom prst="line">
            <a:avLst/>
          </a:prstGeom>
          <a:ln w="25400">
            <a:solidFill>
              <a:srgbClr val="2D5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20437" y="4668488"/>
            <a:ext cx="9418320" cy="774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800">
                <a:latin typeface="Times New Roman"/>
              </a:rPr>
              <a:t>Chooses a suitable action based on the detected condition.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800">
                <a:latin typeface="Times New Roman"/>
              </a:rPr>
              <a:t>Avoids unnecessary force-close operations and aims to reduce downtime and data loss.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9974" y="6446520"/>
            <a:ext cx="31290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latin typeface="Times New Roman"/>
              </a:rPr>
              <a:t>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7831" y="320040"/>
            <a:ext cx="992585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latin typeface="Times New Roman"/>
              </a:rPr>
              <a:t>MODULE 4: MEMORY &amp; RESOURCE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0816" y="868680"/>
            <a:ext cx="403988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latin typeface="Times New Roman"/>
              </a:rPr>
              <a:t>Keeping system resources balanced after recovery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286000" cy="868680"/>
          </a:xfrm>
          <a:prstGeom prst="roundRect">
            <a:avLst/>
          </a:prstGeom>
          <a:solidFill>
            <a:srgbClr val="EBF2FA"/>
          </a:solidFill>
          <a:ln w="15240">
            <a:solidFill>
              <a:srgbClr val="B9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chemeClr val="tx1"/>
                </a:solidFill>
                <a:latin typeface="Times New Roman"/>
              </a:rPr>
              <a:t>Resource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Pressure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325880"/>
            <a:ext cx="2286000" cy="868680"/>
          </a:xfrm>
          <a:prstGeom prst="roundRect">
            <a:avLst/>
          </a:prstGeom>
          <a:solidFill>
            <a:srgbClr val="EBF2FA"/>
          </a:solidFill>
          <a:ln w="15240"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chemeClr val="tx1"/>
                </a:solidFill>
                <a:latin typeface="Times New Roman"/>
              </a:rPr>
              <a:t>Analyze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Usage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25880"/>
            <a:ext cx="2286000" cy="868680"/>
          </a:xfrm>
          <a:prstGeom prst="roundRect">
            <a:avLst/>
          </a:prstGeom>
          <a:solidFill>
            <a:srgbClr val="EBF2FA"/>
          </a:solidFill>
          <a:ln w="15240">
            <a:solidFill>
              <a:srgbClr val="32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chemeClr val="tx1"/>
                </a:solidFill>
                <a:latin typeface="Times New Roman"/>
              </a:rPr>
              <a:t>Optimize /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Prioritize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325880"/>
            <a:ext cx="1828800" cy="868680"/>
          </a:xfrm>
          <a:prstGeom prst="roundRect">
            <a:avLst/>
          </a:prstGeom>
          <a:solidFill>
            <a:srgbClr val="EBF2FA"/>
          </a:solidFill>
          <a:ln w="15240">
            <a:solidFill>
              <a:srgbClr val="32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chemeClr val="tx1"/>
                </a:solidFill>
                <a:latin typeface="Times New Roman"/>
              </a:rPr>
              <a:t>Stable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System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17520" y="1755648"/>
            <a:ext cx="457200" cy="0"/>
          </a:xfrm>
          <a:prstGeom prst="line">
            <a:avLst/>
          </a:prstGeom>
          <a:ln w="25400">
            <a:solidFill>
              <a:srgbClr val="2D5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1755648"/>
            <a:ext cx="457200" cy="0"/>
          </a:xfrm>
          <a:prstGeom prst="line">
            <a:avLst/>
          </a:prstGeom>
          <a:ln w="25400">
            <a:solidFill>
              <a:srgbClr val="2D5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503920" y="1755648"/>
            <a:ext cx="457200" cy="0"/>
          </a:xfrm>
          <a:prstGeom prst="line">
            <a:avLst/>
          </a:prstGeom>
          <a:ln w="25400">
            <a:solidFill>
              <a:srgbClr val="2D5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097280" y="2743200"/>
            <a:ext cx="1463040" cy="502920"/>
          </a:xfrm>
          <a:prstGeom prst="roundRect">
            <a:avLst/>
          </a:prstGeom>
          <a:solidFill>
            <a:srgbClr val="EBF2FA"/>
          </a:solidFill>
          <a:ln w="15240"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chemeClr val="tx1"/>
                </a:solidFill>
                <a:latin typeface="Times New Roman"/>
              </a:rPr>
              <a:t>CPU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2743200"/>
            <a:ext cx="630936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2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chemeClr val="tx1"/>
                </a:solidFill>
                <a:latin typeface="Times New Roman"/>
              </a:rPr>
              <a:t>High → Balanced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520440"/>
            <a:ext cx="1463040" cy="502920"/>
          </a:xfrm>
          <a:prstGeom prst="roundRect">
            <a:avLst/>
          </a:prstGeom>
          <a:solidFill>
            <a:srgbClr val="EBF2FA"/>
          </a:solidFill>
          <a:ln w="15240"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chemeClr val="tx1"/>
                </a:solidFill>
                <a:latin typeface="Times New Roman"/>
              </a:rPr>
              <a:t>Memory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3520440"/>
            <a:ext cx="630936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2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chemeClr val="tx1"/>
                </a:solidFill>
                <a:latin typeface="Times New Roman"/>
              </a:rPr>
              <a:t>Leak → Controlled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4297680"/>
            <a:ext cx="1463040" cy="502920"/>
          </a:xfrm>
          <a:prstGeom prst="roundRect">
            <a:avLst/>
          </a:prstGeom>
          <a:solidFill>
            <a:srgbClr val="EBF2FA"/>
          </a:solidFill>
          <a:ln w="15240"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chemeClr val="tx1"/>
                </a:solidFill>
                <a:latin typeface="Times New Roman"/>
              </a:rPr>
              <a:t>Disk I/O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4297680"/>
            <a:ext cx="630936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2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chemeClr val="tx1"/>
                </a:solidFill>
                <a:latin typeface="Times New Roman"/>
              </a:rPr>
              <a:t>Bottleneck → Reduced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66360"/>
            <a:ext cx="9784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latin typeface="Times New Roman"/>
              </a:rPr>
              <a:t>Helps maintain application performance and system reliability after recovery.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9974" y="6446520"/>
            <a:ext cx="31290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latin typeface="Times New Roman"/>
              </a:rPr>
              <a:t>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1680" y="300305"/>
            <a:ext cx="10972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latin typeface="Times New Roman"/>
              </a:rPr>
              <a:t>MODULE 5: LOGGING, LEARNING</a:t>
            </a:r>
            <a:endParaRPr lang="en-IN" sz="2800" b="1">
              <a:latin typeface="Times New Roman"/>
            </a:endParaRPr>
          </a:p>
          <a:p>
            <a:pPr algn="ctr"/>
            <a:r>
              <a:rPr sz="2800" b="1">
                <a:latin typeface="Times New Roman"/>
              </a:rPr>
              <a:t> &amp; PREDICTION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1680" y="2123440"/>
            <a:ext cx="6400800" cy="548640"/>
          </a:xfrm>
          <a:prstGeom prst="roundRect">
            <a:avLst/>
          </a:prstGeom>
          <a:solidFill>
            <a:srgbClr val="19375F"/>
          </a:solidFill>
          <a:ln w="15240">
            <a:solidFill>
              <a:srgbClr val="19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chemeClr val="bg1"/>
                </a:solidFill>
                <a:latin typeface="Times New Roman"/>
              </a:rPr>
              <a:t>LIVE APPLICATION MONITOR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1680" y="2763519"/>
            <a:ext cx="1828800" cy="502920"/>
          </a:xfrm>
          <a:prstGeom prst="roundRect">
            <a:avLst/>
          </a:prstGeom>
          <a:solidFill>
            <a:srgbClr val="EBF2FA"/>
          </a:solidFill>
          <a:ln w="15240"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chemeClr val="tx1"/>
                </a:solidFill>
                <a:latin typeface="Times New Roman"/>
              </a:rPr>
              <a:t>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70480" y="2763519"/>
            <a:ext cx="914400" cy="502920"/>
          </a:xfrm>
          <a:prstGeom prst="roundRect">
            <a:avLst/>
          </a:prstGeom>
          <a:solidFill>
            <a:srgbClr val="EBF2FA"/>
          </a:solidFill>
          <a:ln w="15240"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chemeClr val="tx1"/>
                </a:solidFill>
                <a:latin typeface="Times New Roman"/>
              </a:rPr>
              <a:t>CPU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84880" y="2763519"/>
            <a:ext cx="1097280" cy="502920"/>
          </a:xfrm>
          <a:prstGeom prst="roundRect">
            <a:avLst/>
          </a:prstGeom>
          <a:solidFill>
            <a:srgbClr val="EBF2FA"/>
          </a:solidFill>
          <a:ln w="15240"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chemeClr val="tx1"/>
                </a:solidFill>
                <a:latin typeface="Times New Roman"/>
              </a:rPr>
              <a:t>Memory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82160" y="2763519"/>
            <a:ext cx="1280160" cy="502920"/>
          </a:xfrm>
          <a:prstGeom prst="roundRect">
            <a:avLst/>
          </a:prstGeom>
          <a:solidFill>
            <a:srgbClr val="EBF2FA"/>
          </a:solidFill>
          <a:ln w="15240"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chemeClr val="tx1"/>
                </a:solidFill>
                <a:latin typeface="Times New Roman"/>
              </a:rPr>
              <a:t>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62320" y="2763519"/>
            <a:ext cx="1280160" cy="502920"/>
          </a:xfrm>
          <a:prstGeom prst="roundRect">
            <a:avLst/>
          </a:prstGeom>
          <a:solidFill>
            <a:srgbClr val="EBF2FA"/>
          </a:solidFill>
          <a:ln w="15240"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chemeClr val="tx1"/>
                </a:solidFill>
                <a:latin typeface="Times New Roman"/>
              </a:rPr>
              <a:t>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1680" y="3330448"/>
            <a:ext cx="182880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chemeClr val="tx1"/>
                </a:solidFill>
                <a:latin typeface="Times New Roman"/>
              </a:rPr>
              <a:t>App 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70480" y="3330448"/>
            <a:ext cx="91440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chemeClr val="tx1"/>
                </a:solidFill>
                <a:latin typeface="Times New Roman"/>
              </a:rPr>
              <a:t>82%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84880" y="3330448"/>
            <a:ext cx="109728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chemeClr val="tx1"/>
                </a:solidFill>
                <a:latin typeface="Times New Roman"/>
              </a:rPr>
              <a:t>68%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82160" y="3330448"/>
            <a:ext cx="128016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chemeClr val="tx1"/>
                </a:solidFill>
                <a:latin typeface="Times New Roman"/>
              </a:rPr>
              <a:t>Frozen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62320" y="3330448"/>
            <a:ext cx="128016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chemeClr val="tx1"/>
                </a:solidFill>
                <a:latin typeface="Times New Roman"/>
              </a:rPr>
              <a:t>Resume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1680" y="3897376"/>
            <a:ext cx="182880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chemeClr val="tx1"/>
                </a:solidFill>
                <a:latin typeface="Times New Roman"/>
              </a:rPr>
              <a:t>App 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70480" y="3897376"/>
            <a:ext cx="91440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chemeClr val="tx1"/>
                </a:solidFill>
                <a:latin typeface="Times New Roman"/>
              </a:rPr>
              <a:t>31%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84880" y="3897376"/>
            <a:ext cx="109728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chemeClr val="tx1"/>
                </a:solidFill>
                <a:latin typeface="Times New Roman"/>
              </a:rPr>
              <a:t>45%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82160" y="3897376"/>
            <a:ext cx="128016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chemeClr val="tx1"/>
                </a:solidFill>
                <a:latin typeface="Times New Roman"/>
              </a:rPr>
              <a:t>Running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62320" y="3897376"/>
            <a:ext cx="128016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chemeClr val="tx1"/>
                </a:solidFill>
                <a:latin typeface="Times New Roman"/>
              </a:rPr>
              <a:t>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1680" y="4464304"/>
            <a:ext cx="182880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chemeClr val="tx1"/>
                </a:solidFill>
                <a:latin typeface="Times New Roman"/>
              </a:rPr>
              <a:t>App 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70480" y="4464304"/>
            <a:ext cx="91440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chemeClr val="tx1"/>
                </a:solidFill>
                <a:latin typeface="Times New Roman"/>
              </a:rPr>
              <a:t>91%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84880" y="4464304"/>
            <a:ext cx="109728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chemeClr val="tx1"/>
                </a:solidFill>
                <a:latin typeface="Times New Roman"/>
              </a:rPr>
              <a:t>77%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82160" y="4464304"/>
            <a:ext cx="128016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chemeClr val="tx1"/>
                </a:solidFill>
                <a:latin typeface="Times New Roman"/>
              </a:rPr>
              <a:t>Frozen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62320" y="4464304"/>
            <a:ext cx="128016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chemeClr val="tx1"/>
                </a:solidFill>
                <a:latin typeface="Times New Roman"/>
              </a:rPr>
              <a:t>Priority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4979" y="2065020"/>
            <a:ext cx="3200400" cy="914400"/>
          </a:xfrm>
          <a:prstGeom prst="roundRect">
            <a:avLst/>
          </a:prstGeom>
          <a:solidFill>
            <a:srgbClr val="EBF2FA"/>
          </a:solidFill>
          <a:ln w="15240"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chemeClr val="tx1"/>
                </a:solidFill>
                <a:latin typeface="Times New Roman"/>
              </a:rPr>
              <a:t>Recovery Logs</a:t>
            </a:r>
            <a:br>
              <a:rPr sz="2400">
                <a:solidFill>
                  <a:schemeClr val="tx1"/>
                </a:solidFill>
              </a:rPr>
            </a:br>
            <a:r>
              <a:rPr sz="2400">
                <a:solidFill>
                  <a:schemeClr val="tx1"/>
                </a:solidFill>
              </a:rPr>
              <a:t>&amp; History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4979" y="3299460"/>
            <a:ext cx="3200400" cy="914400"/>
          </a:xfrm>
          <a:prstGeom prst="roundRect">
            <a:avLst/>
          </a:prstGeom>
          <a:solidFill>
            <a:srgbClr val="EBF2FA"/>
          </a:solidFill>
          <a:ln w="15240">
            <a:solidFill>
              <a:srgbClr val="32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chemeClr val="tx1"/>
                </a:solidFill>
                <a:latin typeface="Times New Roman"/>
              </a:rPr>
              <a:t>Prediction /</a:t>
            </a:r>
            <a:br>
              <a:rPr sz="2400">
                <a:solidFill>
                  <a:schemeClr val="tx1"/>
                </a:solidFill>
              </a:rPr>
            </a:br>
            <a:r>
              <a:rPr sz="2400">
                <a:solidFill>
                  <a:schemeClr val="tx1"/>
                </a:solidFill>
              </a:rPr>
              <a:t>Learning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4979" y="4533900"/>
            <a:ext cx="3200400" cy="914400"/>
          </a:xfrm>
          <a:prstGeom prst="roundRect">
            <a:avLst/>
          </a:prstGeom>
          <a:solidFill>
            <a:srgbClr val="EBF2FA"/>
          </a:solidFill>
          <a:ln w="15240">
            <a:solidFill>
              <a:srgbClr val="D2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chemeClr val="tx1"/>
                </a:solidFill>
                <a:latin typeface="Times New Roman"/>
              </a:rPr>
              <a:t>Dashboard</a:t>
            </a:r>
            <a:br>
              <a:rPr sz="2400">
                <a:solidFill>
                  <a:schemeClr val="tx1"/>
                </a:solidFill>
              </a:rPr>
            </a:br>
            <a:r>
              <a:rPr sz="2400">
                <a:solidFill>
                  <a:schemeClr val="tx1"/>
                </a:solidFill>
              </a:rPr>
              <a:t>Visualization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707880" y="3055620"/>
            <a:ext cx="0" cy="320040"/>
          </a:xfrm>
          <a:prstGeom prst="line">
            <a:avLst/>
          </a:prstGeom>
          <a:ln w="25400">
            <a:solidFill>
              <a:srgbClr val="2D5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07880" y="4335780"/>
            <a:ext cx="0" cy="274320"/>
          </a:xfrm>
          <a:prstGeom prst="line">
            <a:avLst/>
          </a:prstGeom>
          <a:ln w="25400">
            <a:solidFill>
              <a:srgbClr val="2D5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1388749" y="7335520"/>
            <a:ext cx="32573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latin typeface="Times New Roman"/>
              </a:rPr>
              <a:t>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4449" y="341551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9375F"/>
                </a:solidFill>
                <a:latin typeface="Times New Roman"/>
              </a:rPr>
              <a:t>RESULT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94460"/>
            <a:ext cx="4937760" cy="1417320"/>
          </a:xfrm>
          <a:prstGeom prst="roundRect">
            <a:avLst/>
          </a:prstGeom>
          <a:solidFill>
            <a:srgbClr val="EBF2FA"/>
          </a:solidFill>
          <a:ln w="15240">
            <a:solidFill>
              <a:srgbClr val="2D5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191919"/>
                </a:solidFill>
                <a:latin typeface="Times New Roman"/>
              </a:rPr>
              <a:t>Early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11559"/>
            <a:ext cx="4480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191919"/>
                </a:solidFill>
                <a:latin typeface="Times New Roman"/>
              </a:rPr>
              <a:t>Freeze conditions are identified from process and resource behaviour.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402533"/>
            <a:ext cx="4937760" cy="1417320"/>
          </a:xfrm>
          <a:prstGeom prst="roundRect">
            <a:avLst/>
          </a:prstGeom>
          <a:solidFill>
            <a:srgbClr val="EBF2FA"/>
          </a:solidFill>
          <a:ln w="15240">
            <a:solidFill>
              <a:srgbClr val="D2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 dirty="0">
                <a:solidFill>
                  <a:srgbClr val="191919"/>
                </a:solidFill>
                <a:latin typeface="Times New Roman"/>
              </a:rPr>
              <a:t>Cause Identification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42827" y="2255996"/>
            <a:ext cx="3430746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dirty="0">
                <a:solidFill>
                  <a:srgbClr val="191919"/>
                </a:solidFill>
                <a:latin typeface="Times New Roman"/>
              </a:rPr>
              <a:t>Likely causes such as high CPU, memory leaks, </a:t>
            </a:r>
            <a:endParaRPr lang="en-GB" sz="1300" dirty="0">
              <a:solidFill>
                <a:srgbClr val="191919"/>
              </a:solidFill>
              <a:latin typeface="Times New Roman"/>
            </a:endParaRPr>
          </a:p>
          <a:p>
            <a:pPr algn="ctr"/>
            <a:r>
              <a:rPr sz="1300" dirty="0">
                <a:solidFill>
                  <a:srgbClr val="191919"/>
                </a:solidFill>
                <a:latin typeface="Times New Roman"/>
              </a:rPr>
              <a:t>deadlocks and I/O bottlenecks are </a:t>
            </a:r>
            <a:r>
              <a:rPr sz="1300" dirty="0" err="1">
                <a:solidFill>
                  <a:srgbClr val="191919"/>
                </a:solidFill>
                <a:latin typeface="Times New Roman"/>
              </a:rPr>
              <a:t>analysed</a:t>
            </a:r>
            <a:r>
              <a:rPr sz="1300" dirty="0">
                <a:solidFill>
                  <a:srgbClr val="191919"/>
                </a:solidFill>
                <a:latin typeface="Times New Roman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522330"/>
            <a:ext cx="4937760" cy="1417320"/>
          </a:xfrm>
          <a:prstGeom prst="roundRect">
            <a:avLst/>
          </a:prstGeom>
          <a:solidFill>
            <a:srgbClr val="EBF2FA"/>
          </a:solidFill>
          <a:ln w="15240">
            <a:solidFill>
              <a:srgbClr val="32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191919"/>
                </a:solidFill>
                <a:latin typeface="Times New Roman"/>
              </a:rPr>
              <a:t>Smart Recovery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45290"/>
            <a:ext cx="4480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191919"/>
                </a:solidFill>
                <a:latin typeface="Times New Roman"/>
              </a:rPr>
              <a:t>The system selects suspend, resume, priority adjustment or safe restart.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3522330"/>
            <a:ext cx="4937760" cy="1417320"/>
          </a:xfrm>
          <a:prstGeom prst="roundRect">
            <a:avLst/>
          </a:prstGeom>
          <a:solidFill>
            <a:srgbClr val="EBF2FA"/>
          </a:solidFill>
          <a:ln w="15240">
            <a:solidFill>
              <a:srgbClr val="19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191919"/>
                </a:solidFill>
                <a:latin typeface="Times New Roman"/>
              </a:rPr>
              <a:t>Reliability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6991" y="4281948"/>
            <a:ext cx="368241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dirty="0">
                <a:solidFill>
                  <a:srgbClr val="191919"/>
                </a:solidFill>
                <a:latin typeface="Times New Roman"/>
              </a:rPr>
              <a:t>Recovery history and monitoring improve reliability</a:t>
            </a:r>
            <a:endParaRPr lang="en-GB" sz="1300" dirty="0">
              <a:solidFill>
                <a:srgbClr val="191919"/>
              </a:solidFill>
              <a:latin typeface="Times New Roman"/>
            </a:endParaRPr>
          </a:p>
          <a:p>
            <a:pPr algn="ctr"/>
            <a:r>
              <a:rPr sz="1300" dirty="0">
                <a:solidFill>
                  <a:srgbClr val="191919"/>
                </a:solidFill>
                <a:latin typeface="Times New Roman"/>
              </a:rPr>
              <a:t> and reduce unnecessary termination.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Times New Roman"/>
              </a:rPr>
              <a:t>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27000" y="508000"/>
            <a:ext cx="118856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9375F"/>
                </a:solidFill>
                <a:latin typeface="Times New Roman"/>
              </a:rP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Times New Roman"/>
              </a:rPr>
              <a:t>16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35C26CA-062C-75D7-EE99-A7DA77E719C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3369" y="320040"/>
            <a:ext cx="1135117" cy="1342884"/>
          </a:xfrm>
          <a:prstGeom prst="rect">
            <a:avLst/>
          </a:prstGeom>
          <a:noFill/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2CF0A94-46DB-2DF6-8F4B-5F4DA3F71DF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4014" y="320040"/>
            <a:ext cx="14246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5CD5C0-D2C2-48A8-7BCC-FAB5D89676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623"/>
          <a:stretch>
            <a:fillRect/>
          </a:stretch>
        </p:blipFill>
        <p:spPr>
          <a:xfrm>
            <a:off x="433369" y="1744208"/>
            <a:ext cx="11387386" cy="47023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9375F"/>
                </a:solidFill>
                <a:latin typeface="Times New Roman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Times New Roman"/>
              </a:rPr>
              <a:t>17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5B7B27-8442-A0F6-2972-88065157D09C}"/>
              </a:ext>
            </a:extLst>
          </p:cNvPr>
          <p:cNvSpPr txBox="1"/>
          <p:nvPr/>
        </p:nvSpPr>
        <p:spPr>
          <a:xfrm>
            <a:off x="939800" y="1155700"/>
            <a:ext cx="10881360" cy="5028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H. Chen et al. (2022). "AI-Powered Error Detection and Recovery for Distributed Systems". Proceedings of the 2022 ACM SIGMETRICS, 50(3). Available at: </a:t>
            </a:r>
            <a:r>
              <a:rPr lang="en-IN" u="sng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https://doi.org/10.1145/3539587.3539593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S. S. Iyer et al. (2020). "AI-Driven Anomaly Detection for Application Resilience". IEEE Transactions on Dependable and Secure Computing, 17(4). Available at: </a:t>
            </a:r>
            <a:r>
              <a:rPr lang="en-IN" u="sng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https://doi.org/10.1109/TDSC.2019.2910231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J. Liu et al. (2022). "Intelligent Fault Tolerance for Cloud Applications Using Machine Learning". IEEE Cloud Computing, 9(2). Available at: </a:t>
            </a:r>
            <a:r>
              <a:rPr lang="en-IN" u="sng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https://doi.org/10.1109/MCC.2022.3160143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Y. Zhang et al. (2020). "Application Failure Prediction Using Graph Convolutional Networks". IEEE Transactions on Neural Networks and Learning Systems, 31(1). Available at: </a:t>
            </a:r>
            <a:r>
              <a:rPr lang="en-IN" u="sng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https://doi.org/10.1109/TNNLS.2019.2912305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Y. LeCun et al. (2022). "Deep Learning: Techniques and Applications". Springer, 1st Edition. ISBN: 978-3030887985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A502E-5EA6-3E14-A385-E09C4BE95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0986" y="673692"/>
            <a:ext cx="5340627" cy="728662"/>
          </a:xfrm>
        </p:spPr>
        <p:txBody>
          <a:bodyPr>
            <a:norm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04B997-EF66-DB56-37BA-2B4C0291F11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2882" y="50084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1F6B56-9FAD-859F-2835-7C9719E3856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0892" y="50084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39F3A5-D6F4-AD1C-1B4A-31FB03C61707}"/>
              </a:ext>
            </a:extLst>
          </p:cNvPr>
          <p:cNvSpPr txBox="1"/>
          <p:nvPr/>
        </p:nvSpPr>
        <p:spPr>
          <a:xfrm>
            <a:off x="419100" y="2100621"/>
            <a:ext cx="114046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AI-Based Application Freeze Recovery System that continuously monitors running applications and system resources in real time.</a:t>
            </a:r>
          </a:p>
          <a:p>
            <a:pPr algn="just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Implemented AI-based freeze analysis to identify causes such as high CPU usage, memory leaks, deadlocks, and resource bottlenecks.</a:t>
            </a:r>
          </a:p>
          <a:p>
            <a:pPr algn="just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Designed an intelligent recovery engine that performs actions like suspend, resume, priority adjustment, or safe restart to reduce application downtime. </a:t>
            </a:r>
          </a:p>
          <a:p>
            <a:pPr algn="just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enhances system reliability, minimizes data loss, and improves user productivity by providing automated and efficient application recovery.</a:t>
            </a:r>
          </a:p>
        </p:txBody>
      </p:sp>
    </p:spTree>
    <p:extLst>
      <p:ext uri="{BB962C8B-B14F-4D97-AF65-F5344CB8AC3E}">
        <p14:creationId xmlns:p14="http://schemas.microsoft.com/office/powerpoint/2010/main" val="41907892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26B3B-3B2B-7B74-EFEA-0E16FA320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8B4CCC-6DE5-C949-392D-7DAB016CC1B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9FD296-5689-3442-9997-4CB2BB71EE8C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EEDAF5B1-0E32-1546-7886-9D08A0930B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-462441" y="2473185"/>
            <a:ext cx="11736729" cy="1311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5404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12465</TotalTime>
  <Words>1263</Words>
  <Application>Microsoft Office PowerPoint</Application>
  <PresentationFormat>Widescreen</PresentationFormat>
  <Paragraphs>194</Paragraphs>
  <Slides>17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ABSTRACT</vt:lpstr>
      <vt:lpstr>INTRODUCTION</vt:lpstr>
      <vt:lpstr>PROBLEM STATEMENT</vt:lpstr>
      <vt:lpstr>OBJECTIVE </vt:lpstr>
      <vt:lpstr>   EXISTING VS PROPOSED SYSTEM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DATABASE SYSTEM FOR REAL-TIME FLOODMONITORING AND ALERT MANAGEMENT</dc:title>
  <dc:creator>Bhagya shree S</dc:creator>
  <cp:lastModifiedBy>keerthana k</cp:lastModifiedBy>
  <cp:revision>48</cp:revision>
  <dcterms:created xsi:type="dcterms:W3CDTF">2025-11-04T12:52:50Z</dcterms:created>
  <dcterms:modified xsi:type="dcterms:W3CDTF">2026-08-31T08:24:11Z</dcterms:modified>
</cp:coreProperties>
</file>